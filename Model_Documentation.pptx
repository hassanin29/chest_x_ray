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showGuides="1">
      <p:cViewPr>
        <p:scale>
          <a:sx n="58" d="100"/>
          <a:sy n="58" d="100"/>
        </p:scale>
        <p:origin x="1544"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4785" y="5490971"/>
            <a:ext cx="5221554" cy="1159200"/>
          </a:xfrm>
        </p:spPr>
        <p:txBody>
          <a:bodyPr anchor="ctr">
            <a:normAutofit/>
          </a:bodyPr>
          <a:lstStyle/>
          <a:p>
            <a:pPr algn="l"/>
            <a:r>
              <a:rPr lang="en-GB" sz="3500">
                <a:solidFill>
                  <a:srgbClr val="FFFFFF"/>
                </a:solidFill>
              </a:rPr>
              <a:t>Medical Image Classification Description</a:t>
            </a:r>
            <a:endParaRPr lang="en-GB" sz="3500">
              <a:solidFill>
                <a:srgbClr val="FFFFFF"/>
              </a:solidFill>
            </a:endParaRPr>
          </a:p>
        </p:txBody>
      </p:sp>
      <p:sp>
        <p:nvSpPr>
          <p:cNvPr id="3" name="Subtitle 2"/>
          <p:cNvSpPr>
            <a:spLocks noGrp="1"/>
          </p:cNvSpPr>
          <p:nvPr>
            <p:ph type="subTitle" idx="1"/>
          </p:nvPr>
        </p:nvSpPr>
        <p:spPr>
          <a:xfrm>
            <a:off x="6342391" y="5633765"/>
            <a:ext cx="2556416" cy="873612"/>
          </a:xfrm>
        </p:spPr>
        <p:txBody>
          <a:bodyPr anchor="ctr">
            <a:normAutofit/>
          </a:bodyPr>
          <a:lstStyle/>
          <a:p>
            <a:pPr algn="l"/>
            <a:r>
              <a:rPr lang="en-US" sz="2400" dirty="0" err="1">
                <a:solidFill>
                  <a:srgbClr val="FFFFFF"/>
                </a:solidFill>
              </a:rPr>
              <a:t>Chest_X_ray</a:t>
            </a:r>
            <a:r>
              <a:rPr lang="ar-EG" sz="2400" dirty="0">
                <a:solidFill>
                  <a:srgbClr val="FFFFFF"/>
                </a:solidFill>
              </a:rPr>
              <a:t> )</a:t>
            </a:r>
            <a:r>
              <a:rPr lang="en-GB" sz="2400" dirty="0">
                <a:solidFill>
                  <a:srgbClr val="FFFFFF"/>
                </a:solidFill>
              </a:rPr>
              <a:t>Dataset )</a:t>
            </a:r>
            <a:endParaRPr lang="en-GB" sz="2400" dirty="0">
              <a:solidFill>
                <a:srgbClr val="FFFFFF"/>
              </a:solidFill>
            </a:endParaRPr>
          </a:p>
        </p:txBody>
      </p:sp>
      <p:pic>
        <p:nvPicPr>
          <p:cNvPr id="7" name="Graphic 6" descr="Stethoscope"/>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347175" y="390832"/>
            <a:ext cx="4519114" cy="45191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a:spLocks noGrp="1" noRot="1" noChangeAspect="1" noMove="1" noResize="1" noEditPoints="1" noAdjustHandles="1" noChangeArrowheads="1" noChangeShapeType="1" noTextEdit="1"/>
          </p:cNvSpPr>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524785" y="5490971"/>
            <a:ext cx="5221554" cy="1159200"/>
          </a:xfrm>
        </p:spPr>
        <p:txBody>
          <a:bodyPr vert="horz" lIns="91440" tIns="45720" rIns="91440" bIns="45720" rtlCol="0" anchor="ctr">
            <a:normAutofit/>
          </a:bodyPr>
          <a:lstStyle/>
          <a:p>
            <a:pPr defTabSz="914400">
              <a:lnSpc>
                <a:spcPct val="90000"/>
              </a:lnSpc>
            </a:pPr>
            <a:r>
              <a:rPr lang="en-US" sz="3500" dirty="0" err="1">
                <a:solidFill>
                  <a:srgbClr val="FFFFFF"/>
                </a:solidFill>
              </a:rPr>
              <a:t>Chest_X_ray</a:t>
            </a:r>
            <a:endParaRPr lang="en-US" sz="3500" kern="1200" dirty="0">
              <a:solidFill>
                <a:srgbClr val="FFFFFF"/>
              </a:solidFill>
              <a:latin typeface="+mj-lt"/>
              <a:ea typeface="+mj-ea"/>
              <a:cs typeface="+mj-cs"/>
            </a:endParaRPr>
          </a:p>
        </p:txBody>
      </p:sp>
      <p:sp>
        <p:nvSpPr>
          <p:cNvPr id="7" name="Text Placeholder 6"/>
          <p:cNvSpPr>
            <a:spLocks noGrp="1"/>
          </p:cNvSpPr>
          <p:nvPr>
            <p:ph type="body" idx="1"/>
          </p:nvPr>
        </p:nvSpPr>
        <p:spPr>
          <a:xfrm>
            <a:off x="6086472" y="5409282"/>
            <a:ext cx="3057529" cy="1448718"/>
          </a:xfrm>
        </p:spPr>
        <p:txBody>
          <a:bodyPr vert="horz" lIns="91440" tIns="45720" rIns="91440" bIns="45720" rtlCol="0" anchor="ctr">
            <a:normAutofit/>
          </a:bodyPr>
          <a:lstStyle/>
          <a:p>
            <a:pPr defTabSz="914400">
              <a:lnSpc>
                <a:spcPct val="90000"/>
              </a:lnSpc>
              <a:spcBef>
                <a:spcPts val="1000"/>
              </a:spcBef>
            </a:pPr>
            <a:r>
              <a:rPr lang="en-US" sz="2800" kern="1200" dirty="0">
                <a:solidFill>
                  <a:srgbClr val="FFFFFF"/>
                </a:solidFill>
                <a:latin typeface="+mn-lt"/>
                <a:ea typeface="+mn-ea"/>
                <a:cs typeface="+mn-cs"/>
              </a:rPr>
              <a:t>Normal and Pneumonia</a:t>
            </a:r>
            <a:endParaRPr lang="en-US" sz="2800" kern="1200" dirty="0">
              <a:solidFill>
                <a:srgbClr val="FFFFFF"/>
              </a:solidFill>
              <a:latin typeface="+mn-lt"/>
              <a:ea typeface="+mn-ea"/>
              <a:cs typeface="+mn-cs"/>
            </a:endParaRPr>
          </a:p>
        </p:txBody>
      </p:sp>
      <p:pic>
        <p:nvPicPr>
          <p:cNvPr id="5" name="Picture 4" descr="A collage of x-ray images of a chest&#10;&#10;AI-generated content may be incorrect."/>
          <p:cNvPicPr>
            <a:picLocks noChangeAspect="1"/>
          </p:cNvPicPr>
          <p:nvPr/>
        </p:nvPicPr>
        <p:blipFill>
          <a:blip r:embed="rId1"/>
          <a:stretch>
            <a:fillRect/>
          </a:stretch>
        </p:blipFill>
        <p:spPr>
          <a:xfrm>
            <a:off x="358901" y="866300"/>
            <a:ext cx="8495662" cy="35681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p:cNvSpPr>
            <a:spLocks noGrp="1" noRot="1" noChangeAspect="1" noMove="1" noResize="1" noEditPoints="1" noAdjustHandles="1" noChangeArrowheads="1" noChangeShapeType="1" noTextEdit="1"/>
          </p:cNvSpPr>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a:spLocks noGrp="1" noRot="1" noChangeAspect="1" noMove="1" noResize="1" noEditPoints="1" noAdjustHandles="1" noChangeArrowheads="1" noChangeShapeType="1" noTextEdit="1"/>
          </p:cNvSpPr>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603504" y="5221996"/>
            <a:ext cx="7916929" cy="988078"/>
          </a:xfrm>
        </p:spPr>
        <p:txBody>
          <a:bodyPr vert="horz" lIns="91440" tIns="45720" rIns="91440" bIns="45720" rtlCol="0" anchor="ctr">
            <a:noAutofit/>
          </a:bodyPr>
          <a:lstStyle/>
          <a:p>
            <a:pPr algn="l" defTabSz="914400">
              <a:lnSpc>
                <a:spcPct val="90000"/>
              </a:lnSpc>
            </a:pPr>
            <a:r>
              <a:rPr lang="en-US" sz="2400" kern="1200" dirty="0">
                <a:solidFill>
                  <a:schemeClr val="tx2"/>
                </a:solidFill>
                <a:latin typeface="+mj-lt"/>
                <a:ea typeface="+mj-ea"/>
                <a:cs typeface="+mj-cs"/>
              </a:rPr>
              <a:t>Several augmentation techniques were applied, including rotation, shifting, zooming, brightness adjustments, and flipping, to increase dataset diversity and reduce overfitting. These transformations generated new variations of both NORMAL and PNEUMONIA images, which contributed to improving the model’s generalization ability. The displayed images represent examples of the augmented data.</a:t>
            </a:r>
            <a:br>
              <a:rPr lang="en-US" sz="2400" kern="1200" dirty="0">
                <a:solidFill>
                  <a:schemeClr val="tx2"/>
                </a:solidFill>
                <a:latin typeface="+mj-lt"/>
                <a:ea typeface="+mj-ea"/>
                <a:cs typeface="+mj-cs"/>
              </a:rPr>
            </a:br>
            <a:endParaRPr lang="en-US" sz="2400" kern="1200" dirty="0">
              <a:solidFill>
                <a:schemeClr val="tx2"/>
              </a:solidFill>
              <a:latin typeface="+mj-lt"/>
              <a:ea typeface="+mj-ea"/>
              <a:cs typeface="+mj-cs"/>
            </a:endParaRPr>
          </a:p>
        </p:txBody>
      </p:sp>
      <p:grpSp>
        <p:nvGrpSpPr>
          <p:cNvPr id="25" name="Group 24"/>
          <p:cNvGrpSpPr>
            <a:grpSpLocks noGrp="1" noRot="1" noChangeAspect="1" noMove="1" noResize="1" noUngrp="1"/>
          </p:cNvGrpSpPr>
          <p:nvPr/>
        </p:nvGrpSpPr>
        <p:grpSpPr>
          <a:xfrm rot="16200000" flipH="1">
            <a:off x="-446669" y="442100"/>
            <a:ext cx="2514948" cy="1630750"/>
            <a:chOff x="-305" y="-4155"/>
            <a:chExt cx="2514948" cy="2174333"/>
          </a:xfrm>
        </p:grpSpPr>
        <p:sp>
          <p:nvSpPr>
            <p:cNvPr id="26" name="Freeform: Shape 25"/>
            <p:cNvSpPr/>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p:cNvSpPr/>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p:cNvSpPr/>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p:cNvSpPr/>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p:cNvPicPr>
            <a:picLocks noChangeAspect="1"/>
          </p:cNvPicPr>
          <p:nvPr/>
        </p:nvPicPr>
        <p:blipFill>
          <a:blip r:embed="rId1"/>
          <a:stretch>
            <a:fillRect/>
          </a:stretch>
        </p:blipFill>
        <p:spPr>
          <a:xfrm>
            <a:off x="613536" y="575312"/>
            <a:ext cx="7916928" cy="3325109"/>
          </a:xfrm>
          <a:prstGeom prst="rect">
            <a:avLst/>
          </a:prstGeom>
        </p:spPr>
      </p:pic>
      <p:grpSp>
        <p:nvGrpSpPr>
          <p:cNvPr id="31" name="Group 30"/>
          <p:cNvGrpSpPr>
            <a:grpSpLocks noGrp="1" noRot="1" noChangeAspect="1" noMove="1" noResize="1" noUngrp="1"/>
          </p:cNvGrpSpPr>
          <p:nvPr/>
        </p:nvGrpSpPr>
        <p:grpSpPr>
          <a:xfrm rot="10800000">
            <a:off x="6847914" y="4560733"/>
            <a:ext cx="2296085" cy="2297266"/>
            <a:chOff x="-305" y="-1"/>
            <a:chExt cx="3832880" cy="2876136"/>
          </a:xfrm>
        </p:grpSpPr>
        <p:sp>
          <p:nvSpPr>
            <p:cNvPr id="32" name="Freeform: Shape 31"/>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a:spLocks noGrp="1" noRot="1" noChangeAspect="1" noMove="1" noResize="1" noEditPoints="1" noAdjustHandles="1" noChangeArrowheads="1" noChangeShapeType="1" noTextEdit="1"/>
          </p:cNvSpPr>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a:spLocks noGrp="1" noRot="1" noChangeAspect="1" noMove="1" noResize="1" noEditPoints="1" noAdjustHandles="1" noChangeArrowheads="1" noChangeShapeType="1" noTextEdit="1"/>
          </p:cNvSpPr>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a:solidFill>
                  <a:srgbClr val="FFFFFF"/>
                </a:solidFill>
              </a:rPr>
              <a:t>Chest_X_ray</a:t>
            </a:r>
            <a:endParaRPr lang="en-US" sz="3500" kern="1200" dirty="0">
              <a:solidFill>
                <a:srgbClr val="FFFFFF"/>
              </a:solidFill>
              <a:latin typeface="+mj-lt"/>
              <a:ea typeface="+mj-ea"/>
              <a:cs typeface="+mj-cs"/>
            </a:endParaRPr>
          </a:p>
        </p:txBody>
      </p:sp>
      <p:pic>
        <p:nvPicPr>
          <p:cNvPr id="3" name="Picture 2"/>
          <p:cNvPicPr>
            <a:picLocks noChangeAspect="1"/>
          </p:cNvPicPr>
          <p:nvPr/>
        </p:nvPicPr>
        <p:blipFill>
          <a:blip r:embed="rId1"/>
          <a:stretch>
            <a:fillRect/>
          </a:stretch>
        </p:blipFill>
        <p:spPr>
          <a:xfrm>
            <a:off x="524785" y="40243"/>
            <a:ext cx="8046338" cy="4869703"/>
          </a:xfrm>
          <a:prstGeom prst="rect">
            <a:avLst/>
          </a:prstGeom>
        </p:spPr>
      </p:pic>
      <p:sp>
        <p:nvSpPr>
          <p:cNvPr id="2" name="TextBox 1"/>
          <p:cNvSpPr txBox="1"/>
          <p:nvPr/>
        </p:nvSpPr>
        <p:spPr>
          <a:xfrm>
            <a:off x="6086473" y="5267259"/>
            <a:ext cx="3057522" cy="1508105"/>
          </a:xfrm>
          <a:prstGeom prst="rect">
            <a:avLst/>
          </a:prstGeom>
          <a:noFill/>
        </p:spPr>
        <p:txBody>
          <a:bodyPr wrap="square" rtlCol="0">
            <a:spAutoFit/>
          </a:bodyPr>
          <a:lstStyle/>
          <a:p>
            <a:r>
              <a:rPr lang="en-GB" sz="3600" dirty="0">
                <a:solidFill>
                  <a:schemeClr val="bg1"/>
                </a:solidFill>
              </a:rPr>
              <a:t>Number Of Images: </a:t>
            </a:r>
            <a:r>
              <a:rPr lang="en-GB" sz="2000" dirty="0">
                <a:solidFill>
                  <a:schemeClr val="bg1"/>
                </a:solidFill>
              </a:rPr>
              <a:t>(NORMAL): 1341 (PNEUMONIA): 3875</a:t>
            </a:r>
            <a:endParaRPr lang="en-GB" sz="20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5501005"/>
            <a:ext cx="5767705" cy="1356360"/>
          </a:xfrm>
          <a:prstGeom prst="rect">
            <a:avLst/>
          </a:prstGeom>
          <a:solidFill>
            <a:schemeClr val="tx2">
              <a:lumMod val="75000"/>
            </a:schemeClr>
          </a:solidFill>
        </p:spPr>
        <p:txBody>
          <a:bodyPr wrap="square" rtlCol="0" anchor="ctr" anchorCtr="0">
            <a:noAutofit/>
          </a:bodyPr>
          <a:p>
            <a:pPr lvl="1" algn="l">
              <a:lnSpc>
                <a:spcPct val="90000"/>
              </a:lnSpc>
            </a:pPr>
            <a:r>
              <a:rPr lang="en-US" sz="3600">
                <a:solidFill>
                  <a:schemeClr val="bg1"/>
                </a:solidFill>
              </a:rPr>
              <a:t>VGG-19 Model</a:t>
            </a:r>
            <a:endParaRPr lang="en-US" sz="3600">
              <a:solidFill>
                <a:schemeClr val="bg1"/>
              </a:solidFill>
            </a:endParaRPr>
          </a:p>
        </p:txBody>
      </p:sp>
      <p:pic>
        <p:nvPicPr>
          <p:cNvPr id="5" name="Picture 4"/>
          <p:cNvPicPr>
            <a:picLocks noChangeAspect="1"/>
          </p:cNvPicPr>
          <p:nvPr/>
        </p:nvPicPr>
        <p:blipFill>
          <a:blip r:embed="rId1"/>
          <a:stretch>
            <a:fillRect/>
          </a:stretch>
        </p:blipFill>
        <p:spPr>
          <a:xfrm>
            <a:off x="323850" y="1639570"/>
            <a:ext cx="8366760" cy="3523615"/>
          </a:xfrm>
          <a:prstGeom prst="rect">
            <a:avLst/>
          </a:prstGeom>
        </p:spPr>
      </p:pic>
      <p:sp>
        <p:nvSpPr>
          <p:cNvPr id="6" name="Text Box 5"/>
          <p:cNvSpPr txBox="1"/>
          <p:nvPr/>
        </p:nvSpPr>
        <p:spPr>
          <a:xfrm>
            <a:off x="5767705" y="5501005"/>
            <a:ext cx="3375660" cy="1356360"/>
          </a:xfrm>
          <a:prstGeom prst="rect">
            <a:avLst/>
          </a:prstGeom>
          <a:solidFill>
            <a:schemeClr val="accent1">
              <a:lumMod val="75000"/>
            </a:schemeClr>
          </a:solidFill>
        </p:spPr>
        <p:txBody>
          <a:bodyPr wrap="square" rtlCol="0" anchor="ctr" anchorCtr="0">
            <a:noAutofit/>
          </a:bodyPr>
          <a:p>
            <a:r>
              <a:rPr lang="en-US" sz="3200">
                <a:solidFill>
                  <a:schemeClr val="bg1"/>
                </a:solidFill>
              </a:rPr>
              <a:t>Accuracy  =91%</a:t>
            </a:r>
            <a:endParaRPr lang="en-US" sz="320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5501005"/>
            <a:ext cx="5767705" cy="1356360"/>
          </a:xfrm>
          <a:prstGeom prst="rect">
            <a:avLst/>
          </a:prstGeom>
          <a:solidFill>
            <a:schemeClr val="tx2">
              <a:lumMod val="75000"/>
            </a:schemeClr>
          </a:solidFill>
        </p:spPr>
        <p:txBody>
          <a:bodyPr wrap="square" rtlCol="0" anchor="ctr" anchorCtr="0">
            <a:noAutofit/>
          </a:bodyPr>
          <a:p>
            <a:pPr lvl="1" algn="l">
              <a:lnSpc>
                <a:spcPct val="90000"/>
              </a:lnSpc>
            </a:pPr>
            <a:r>
              <a:rPr lang="en-US" sz="3600">
                <a:solidFill>
                  <a:schemeClr val="bg1"/>
                </a:solidFill>
              </a:rPr>
              <a:t>VGG-19 Model</a:t>
            </a:r>
            <a:endParaRPr lang="en-US" sz="3600">
              <a:solidFill>
                <a:schemeClr val="bg1"/>
              </a:solidFill>
            </a:endParaRPr>
          </a:p>
        </p:txBody>
      </p:sp>
      <p:sp>
        <p:nvSpPr>
          <p:cNvPr id="6" name="Text Box 5"/>
          <p:cNvSpPr txBox="1"/>
          <p:nvPr/>
        </p:nvSpPr>
        <p:spPr>
          <a:xfrm>
            <a:off x="5767705" y="5501640"/>
            <a:ext cx="3375660" cy="1356360"/>
          </a:xfrm>
          <a:prstGeom prst="rect">
            <a:avLst/>
          </a:prstGeom>
          <a:solidFill>
            <a:schemeClr val="accent1">
              <a:lumMod val="75000"/>
            </a:schemeClr>
          </a:solidFill>
        </p:spPr>
        <p:txBody>
          <a:bodyPr wrap="square" rtlCol="0" anchor="ctr" anchorCtr="0">
            <a:noAutofit/>
          </a:bodyPr>
          <a:p>
            <a:r>
              <a:rPr lang="en-US" sz="3200">
                <a:solidFill>
                  <a:schemeClr val="bg1"/>
                </a:solidFill>
              </a:rPr>
              <a:t>Accuracy  =91%</a:t>
            </a:r>
            <a:endParaRPr lang="en-US" sz="3200">
              <a:solidFill>
                <a:schemeClr val="bg1"/>
              </a:solidFill>
            </a:endParaRPr>
          </a:p>
        </p:txBody>
      </p:sp>
      <p:pic>
        <p:nvPicPr>
          <p:cNvPr id="5" name="Picture 4"/>
          <p:cNvPicPr>
            <a:picLocks noChangeAspect="1"/>
          </p:cNvPicPr>
          <p:nvPr/>
        </p:nvPicPr>
        <p:blipFill>
          <a:blip r:embed="rId1"/>
          <a:stretch>
            <a:fillRect/>
          </a:stretch>
        </p:blipFill>
        <p:spPr>
          <a:xfrm>
            <a:off x="221615" y="1606550"/>
            <a:ext cx="3869055" cy="3644900"/>
          </a:xfrm>
          <a:prstGeom prst="rect">
            <a:avLst/>
          </a:prstGeom>
        </p:spPr>
      </p:pic>
      <p:pic>
        <p:nvPicPr>
          <p:cNvPr id="7" name="Picture 6"/>
          <p:cNvPicPr>
            <a:picLocks noChangeAspect="1"/>
          </p:cNvPicPr>
          <p:nvPr/>
        </p:nvPicPr>
        <p:blipFill>
          <a:blip r:embed="rId2"/>
          <a:stretch>
            <a:fillRect/>
          </a:stretch>
        </p:blipFill>
        <p:spPr>
          <a:xfrm>
            <a:off x="4740275" y="390525"/>
            <a:ext cx="4196080" cy="3749675"/>
          </a:xfrm>
          <a:prstGeom prst="rect">
            <a:avLst/>
          </a:prstGeom>
        </p:spPr>
      </p:pic>
      <p:sp>
        <p:nvSpPr>
          <p:cNvPr id="8" name="Text Box 7"/>
          <p:cNvSpPr txBox="1"/>
          <p:nvPr/>
        </p:nvSpPr>
        <p:spPr>
          <a:xfrm>
            <a:off x="632460" y="557530"/>
            <a:ext cx="3048000" cy="521970"/>
          </a:xfrm>
          <a:prstGeom prst="rect">
            <a:avLst/>
          </a:prstGeom>
          <a:noFill/>
        </p:spPr>
        <p:txBody>
          <a:bodyPr wrap="square" rtlCol="0">
            <a:spAutoFit/>
          </a:bodyPr>
          <a:p>
            <a:r>
              <a:rPr lang="en-US" sz="2800"/>
              <a:t>Results </a:t>
            </a:r>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5501005"/>
            <a:ext cx="5767705" cy="1356360"/>
          </a:xfrm>
          <a:prstGeom prst="rect">
            <a:avLst/>
          </a:prstGeom>
          <a:solidFill>
            <a:schemeClr val="tx2">
              <a:lumMod val="75000"/>
            </a:schemeClr>
          </a:solidFill>
        </p:spPr>
        <p:txBody>
          <a:bodyPr wrap="square" rtlCol="0" anchor="ctr" anchorCtr="0">
            <a:noAutofit/>
          </a:bodyPr>
          <a:p>
            <a:pPr lvl="1" algn="l">
              <a:lnSpc>
                <a:spcPct val="90000"/>
              </a:lnSpc>
            </a:pPr>
            <a:r>
              <a:rPr lang="en-US" sz="3600">
                <a:solidFill>
                  <a:schemeClr val="bg1"/>
                </a:solidFill>
              </a:rPr>
              <a:t>VIT Model</a:t>
            </a:r>
            <a:endParaRPr lang="en-US" sz="3600">
              <a:solidFill>
                <a:schemeClr val="bg1"/>
              </a:solidFill>
            </a:endParaRPr>
          </a:p>
        </p:txBody>
      </p:sp>
      <p:pic>
        <p:nvPicPr>
          <p:cNvPr id="3" name="Picture 2"/>
          <p:cNvPicPr>
            <a:picLocks noChangeAspect="1"/>
          </p:cNvPicPr>
          <p:nvPr/>
        </p:nvPicPr>
        <p:blipFill>
          <a:blip r:embed="rId1"/>
          <a:stretch>
            <a:fillRect/>
          </a:stretch>
        </p:blipFill>
        <p:spPr>
          <a:xfrm>
            <a:off x="506730" y="3288665"/>
            <a:ext cx="5074920" cy="2191385"/>
          </a:xfrm>
          <a:prstGeom prst="rect">
            <a:avLst/>
          </a:prstGeom>
        </p:spPr>
      </p:pic>
      <p:sp>
        <p:nvSpPr>
          <p:cNvPr id="6" name="Text Box 5"/>
          <p:cNvSpPr txBox="1"/>
          <p:nvPr/>
        </p:nvSpPr>
        <p:spPr>
          <a:xfrm>
            <a:off x="5767705" y="5501640"/>
            <a:ext cx="3375660" cy="1356360"/>
          </a:xfrm>
          <a:prstGeom prst="rect">
            <a:avLst/>
          </a:prstGeom>
          <a:solidFill>
            <a:schemeClr val="accent1">
              <a:lumMod val="75000"/>
            </a:schemeClr>
          </a:solidFill>
        </p:spPr>
        <p:txBody>
          <a:bodyPr wrap="square" rtlCol="0" anchor="ctr" anchorCtr="0">
            <a:noAutofit/>
          </a:bodyPr>
          <a:p>
            <a:r>
              <a:rPr lang="en-US" sz="3200">
                <a:solidFill>
                  <a:schemeClr val="bg1"/>
                </a:solidFill>
              </a:rPr>
              <a:t>Accuracy  =89%</a:t>
            </a:r>
            <a:endParaRPr lang="en-US" sz="3200">
              <a:solidFill>
                <a:schemeClr val="bg1"/>
              </a:solidFill>
            </a:endParaRPr>
          </a:p>
        </p:txBody>
      </p:sp>
      <p:pic>
        <p:nvPicPr>
          <p:cNvPr id="7" name="Picture 6"/>
          <p:cNvPicPr>
            <a:picLocks noChangeAspect="1"/>
          </p:cNvPicPr>
          <p:nvPr/>
        </p:nvPicPr>
        <p:blipFill>
          <a:blip r:embed="rId2"/>
          <a:stretch>
            <a:fillRect/>
          </a:stretch>
        </p:blipFill>
        <p:spPr>
          <a:xfrm>
            <a:off x="-635" y="189230"/>
            <a:ext cx="9144000" cy="30054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5501005"/>
            <a:ext cx="5767705" cy="1356360"/>
          </a:xfrm>
          <a:prstGeom prst="rect">
            <a:avLst/>
          </a:prstGeom>
          <a:solidFill>
            <a:schemeClr val="tx2">
              <a:lumMod val="75000"/>
            </a:schemeClr>
          </a:solidFill>
        </p:spPr>
        <p:txBody>
          <a:bodyPr wrap="square" rtlCol="0" anchor="ctr" anchorCtr="0">
            <a:noAutofit/>
          </a:bodyPr>
          <a:p>
            <a:pPr lvl="1" algn="l">
              <a:lnSpc>
                <a:spcPct val="90000"/>
              </a:lnSpc>
            </a:pPr>
            <a:r>
              <a:rPr lang="en-US" sz="3600">
                <a:solidFill>
                  <a:schemeClr val="bg1"/>
                </a:solidFill>
              </a:rPr>
              <a:t>VIT Model</a:t>
            </a:r>
            <a:endParaRPr lang="en-US" sz="3600">
              <a:solidFill>
                <a:schemeClr val="bg1"/>
              </a:solidFill>
            </a:endParaRPr>
          </a:p>
        </p:txBody>
      </p:sp>
      <p:sp>
        <p:nvSpPr>
          <p:cNvPr id="6" name="Text Box 5"/>
          <p:cNvSpPr txBox="1"/>
          <p:nvPr/>
        </p:nvSpPr>
        <p:spPr>
          <a:xfrm>
            <a:off x="5767705" y="5501640"/>
            <a:ext cx="3375660" cy="1356360"/>
          </a:xfrm>
          <a:prstGeom prst="rect">
            <a:avLst/>
          </a:prstGeom>
          <a:solidFill>
            <a:schemeClr val="accent1">
              <a:lumMod val="75000"/>
            </a:schemeClr>
          </a:solidFill>
        </p:spPr>
        <p:txBody>
          <a:bodyPr wrap="square" rtlCol="0" anchor="ctr" anchorCtr="0">
            <a:noAutofit/>
          </a:bodyPr>
          <a:p>
            <a:r>
              <a:rPr lang="en-US" sz="3200">
                <a:solidFill>
                  <a:schemeClr val="bg1"/>
                </a:solidFill>
              </a:rPr>
              <a:t>Accuracy  =89%</a:t>
            </a:r>
            <a:endParaRPr lang="en-US" sz="3200">
              <a:solidFill>
                <a:schemeClr val="bg1"/>
              </a:solidFill>
            </a:endParaRPr>
          </a:p>
        </p:txBody>
      </p:sp>
      <p:pic>
        <p:nvPicPr>
          <p:cNvPr id="3" name="Picture 2"/>
          <p:cNvPicPr>
            <a:picLocks noChangeAspect="1"/>
          </p:cNvPicPr>
          <p:nvPr/>
        </p:nvPicPr>
        <p:blipFill>
          <a:blip r:embed="rId1"/>
          <a:stretch>
            <a:fillRect/>
          </a:stretch>
        </p:blipFill>
        <p:spPr>
          <a:xfrm>
            <a:off x="0" y="1570990"/>
            <a:ext cx="4620895" cy="3930650"/>
          </a:xfrm>
          <a:prstGeom prst="rect">
            <a:avLst/>
          </a:prstGeom>
        </p:spPr>
      </p:pic>
      <p:pic>
        <p:nvPicPr>
          <p:cNvPr id="5" name="Picture 4"/>
          <p:cNvPicPr>
            <a:picLocks noChangeAspect="1"/>
          </p:cNvPicPr>
          <p:nvPr/>
        </p:nvPicPr>
        <p:blipFill>
          <a:blip r:embed="rId2"/>
          <a:stretch>
            <a:fillRect/>
          </a:stretch>
        </p:blipFill>
        <p:spPr>
          <a:xfrm>
            <a:off x="5010785" y="251460"/>
            <a:ext cx="3853180" cy="34575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5501005"/>
            <a:ext cx="5767705" cy="1356360"/>
          </a:xfrm>
          <a:prstGeom prst="rect">
            <a:avLst/>
          </a:prstGeom>
          <a:solidFill>
            <a:schemeClr val="tx2">
              <a:lumMod val="75000"/>
            </a:schemeClr>
          </a:solidFill>
        </p:spPr>
        <p:txBody>
          <a:bodyPr wrap="square" rtlCol="0" anchor="ctr" anchorCtr="0">
            <a:noAutofit/>
          </a:bodyPr>
          <a:p>
            <a:pPr lvl="1" algn="l">
              <a:lnSpc>
                <a:spcPct val="90000"/>
              </a:lnSpc>
            </a:pPr>
            <a:r>
              <a:rPr lang="en-US" sz="3600">
                <a:solidFill>
                  <a:schemeClr val="bg1"/>
                </a:solidFill>
              </a:rPr>
              <a:t>resnetModel</a:t>
            </a:r>
            <a:endParaRPr lang="en-US" sz="3600">
              <a:solidFill>
                <a:schemeClr val="bg1"/>
              </a:solidFill>
            </a:endParaRPr>
          </a:p>
        </p:txBody>
      </p:sp>
      <p:sp>
        <p:nvSpPr>
          <p:cNvPr id="6" name="Text Box 5"/>
          <p:cNvSpPr txBox="1"/>
          <p:nvPr/>
        </p:nvSpPr>
        <p:spPr>
          <a:xfrm>
            <a:off x="5767705" y="5501640"/>
            <a:ext cx="3375660" cy="1356360"/>
          </a:xfrm>
          <a:prstGeom prst="rect">
            <a:avLst/>
          </a:prstGeom>
          <a:solidFill>
            <a:schemeClr val="accent1">
              <a:lumMod val="75000"/>
            </a:schemeClr>
          </a:solidFill>
        </p:spPr>
        <p:txBody>
          <a:bodyPr wrap="square" rtlCol="0" anchor="ctr" anchorCtr="0">
            <a:noAutofit/>
          </a:bodyPr>
          <a:p>
            <a:r>
              <a:rPr lang="en-US" sz="3200">
                <a:solidFill>
                  <a:schemeClr val="bg1"/>
                </a:solidFill>
              </a:rPr>
              <a:t>Accuracy  =73%</a:t>
            </a:r>
            <a:endParaRPr lang="en-US" sz="3200">
              <a:solidFill>
                <a:schemeClr val="bg1"/>
              </a:solidFill>
            </a:endParaRPr>
          </a:p>
        </p:txBody>
      </p:sp>
      <p:pic>
        <p:nvPicPr>
          <p:cNvPr id="3" name="Picture 2"/>
          <p:cNvPicPr>
            <a:picLocks noChangeAspect="1"/>
          </p:cNvPicPr>
          <p:nvPr/>
        </p:nvPicPr>
        <p:blipFill>
          <a:blip r:embed="rId1"/>
          <a:stretch>
            <a:fillRect/>
          </a:stretch>
        </p:blipFill>
        <p:spPr>
          <a:xfrm>
            <a:off x="243840" y="3524250"/>
            <a:ext cx="4328160" cy="1905000"/>
          </a:xfrm>
          <a:prstGeom prst="rect">
            <a:avLst/>
          </a:prstGeom>
        </p:spPr>
      </p:pic>
      <p:pic>
        <p:nvPicPr>
          <p:cNvPr id="5" name="Picture 4"/>
          <p:cNvPicPr>
            <a:picLocks noChangeAspect="1"/>
          </p:cNvPicPr>
          <p:nvPr/>
        </p:nvPicPr>
        <p:blipFill>
          <a:blip r:embed="rId2"/>
          <a:stretch>
            <a:fillRect/>
          </a:stretch>
        </p:blipFill>
        <p:spPr>
          <a:xfrm>
            <a:off x="4712335" y="773430"/>
            <a:ext cx="4431030" cy="3855720"/>
          </a:xfrm>
          <a:prstGeom prst="rect">
            <a:avLst/>
          </a:prstGeom>
        </p:spPr>
      </p:pic>
      <p:pic>
        <p:nvPicPr>
          <p:cNvPr id="7" name="Picture 6"/>
          <p:cNvPicPr>
            <a:picLocks noChangeAspect="1"/>
          </p:cNvPicPr>
          <p:nvPr/>
        </p:nvPicPr>
        <p:blipFill>
          <a:blip r:embed="rId3"/>
          <a:stretch>
            <a:fillRect/>
          </a:stretch>
        </p:blipFill>
        <p:spPr>
          <a:xfrm>
            <a:off x="582295" y="81280"/>
            <a:ext cx="3595370" cy="33477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5501005"/>
            <a:ext cx="5767705" cy="1356360"/>
          </a:xfrm>
          <a:prstGeom prst="rect">
            <a:avLst/>
          </a:prstGeom>
          <a:solidFill>
            <a:schemeClr val="tx2">
              <a:lumMod val="75000"/>
            </a:schemeClr>
          </a:solidFill>
        </p:spPr>
        <p:txBody>
          <a:bodyPr wrap="square" rtlCol="0" anchor="ctr" anchorCtr="0">
            <a:noAutofit/>
          </a:bodyPr>
          <a:p>
            <a:pPr lvl="1" algn="l">
              <a:lnSpc>
                <a:spcPct val="90000"/>
              </a:lnSpc>
            </a:pPr>
            <a:r>
              <a:rPr lang="en-US" sz="3600">
                <a:solidFill>
                  <a:schemeClr val="bg1"/>
                </a:solidFill>
              </a:rPr>
              <a:t>inception-Model</a:t>
            </a:r>
            <a:endParaRPr lang="en-US" sz="3600">
              <a:solidFill>
                <a:schemeClr val="bg1"/>
              </a:solidFill>
            </a:endParaRPr>
          </a:p>
        </p:txBody>
      </p:sp>
      <p:sp>
        <p:nvSpPr>
          <p:cNvPr id="6" name="Text Box 5"/>
          <p:cNvSpPr txBox="1"/>
          <p:nvPr/>
        </p:nvSpPr>
        <p:spPr>
          <a:xfrm>
            <a:off x="5767705" y="5501640"/>
            <a:ext cx="3375660" cy="1356360"/>
          </a:xfrm>
          <a:prstGeom prst="rect">
            <a:avLst/>
          </a:prstGeom>
          <a:solidFill>
            <a:schemeClr val="accent1">
              <a:lumMod val="75000"/>
            </a:schemeClr>
          </a:solidFill>
        </p:spPr>
        <p:txBody>
          <a:bodyPr wrap="square" rtlCol="0" anchor="ctr" anchorCtr="0">
            <a:noAutofit/>
          </a:bodyPr>
          <a:p>
            <a:r>
              <a:rPr lang="en-US" sz="3200">
                <a:solidFill>
                  <a:schemeClr val="bg1"/>
                </a:solidFill>
              </a:rPr>
              <a:t>Accuracy  =86%</a:t>
            </a:r>
            <a:endParaRPr lang="en-US" sz="3200">
              <a:solidFill>
                <a:schemeClr val="bg1"/>
              </a:solidFill>
            </a:endParaRPr>
          </a:p>
        </p:txBody>
      </p:sp>
      <p:pic>
        <p:nvPicPr>
          <p:cNvPr id="3" name="Picture 2"/>
          <p:cNvPicPr>
            <a:picLocks noChangeAspect="1"/>
          </p:cNvPicPr>
          <p:nvPr/>
        </p:nvPicPr>
        <p:blipFill>
          <a:blip r:embed="rId1"/>
          <a:stretch>
            <a:fillRect/>
          </a:stretch>
        </p:blipFill>
        <p:spPr>
          <a:xfrm>
            <a:off x="124460" y="3756025"/>
            <a:ext cx="4030345" cy="1600835"/>
          </a:xfrm>
          <a:prstGeom prst="rect">
            <a:avLst/>
          </a:prstGeom>
        </p:spPr>
      </p:pic>
      <p:pic>
        <p:nvPicPr>
          <p:cNvPr id="5" name="Picture 4"/>
          <p:cNvPicPr>
            <a:picLocks noChangeAspect="1"/>
          </p:cNvPicPr>
          <p:nvPr/>
        </p:nvPicPr>
        <p:blipFill>
          <a:blip r:embed="rId2"/>
          <a:stretch>
            <a:fillRect/>
          </a:stretch>
        </p:blipFill>
        <p:spPr>
          <a:xfrm>
            <a:off x="668655" y="229870"/>
            <a:ext cx="3731260" cy="3438525"/>
          </a:xfrm>
          <a:prstGeom prst="rect">
            <a:avLst/>
          </a:prstGeom>
        </p:spPr>
      </p:pic>
      <p:pic>
        <p:nvPicPr>
          <p:cNvPr id="7" name="Picture 6"/>
          <p:cNvPicPr>
            <a:picLocks noChangeAspect="1"/>
          </p:cNvPicPr>
          <p:nvPr/>
        </p:nvPicPr>
        <p:blipFill>
          <a:blip r:embed="rId3"/>
          <a:stretch>
            <a:fillRect/>
          </a:stretch>
        </p:blipFill>
        <p:spPr>
          <a:xfrm>
            <a:off x="4711065" y="683260"/>
            <a:ext cx="4432935" cy="3977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671195" y="253365"/>
            <a:ext cx="7372350" cy="3769360"/>
          </a:xfrm>
          <a:prstGeom prst="rect">
            <a:avLst/>
          </a:prstGeom>
        </p:spPr>
      </p:pic>
      <p:sp>
        <p:nvSpPr>
          <p:cNvPr id="5" name="Text Box 4"/>
          <p:cNvSpPr txBox="1"/>
          <p:nvPr/>
        </p:nvSpPr>
        <p:spPr>
          <a:xfrm>
            <a:off x="0" y="5417820"/>
            <a:ext cx="9144635" cy="1440180"/>
          </a:xfrm>
          <a:prstGeom prst="rect">
            <a:avLst/>
          </a:prstGeom>
          <a:solidFill>
            <a:schemeClr val="tx2">
              <a:lumMod val="75000"/>
            </a:schemeClr>
          </a:solidFill>
        </p:spPr>
        <p:txBody>
          <a:bodyPr wrap="square" rtlCol="0" anchor="ctr" anchorCtr="0">
            <a:noAutofit/>
          </a:bodyPr>
          <a:p>
            <a:pPr lvl="1" algn="l">
              <a:lnSpc>
                <a:spcPct val="90000"/>
              </a:lnSpc>
            </a:pPr>
            <a:r>
              <a:rPr lang="en-US" sz="3600">
                <a:solidFill>
                  <a:schemeClr val="bg1"/>
                </a:solidFill>
              </a:rPr>
              <a:t>The Conclusion</a:t>
            </a:r>
            <a:endParaRPr lang="en-US" sz="3600">
              <a:solidFill>
                <a:schemeClr val="bg1"/>
              </a:solidFill>
            </a:endParaRPr>
          </a:p>
        </p:txBody>
      </p:sp>
      <p:sp>
        <p:nvSpPr>
          <p:cNvPr id="6" name="Text Box 5"/>
          <p:cNvSpPr txBox="1"/>
          <p:nvPr/>
        </p:nvSpPr>
        <p:spPr>
          <a:xfrm>
            <a:off x="759460" y="4182745"/>
            <a:ext cx="7253605" cy="1005840"/>
          </a:xfrm>
          <a:prstGeom prst="rect">
            <a:avLst/>
          </a:prstGeom>
          <a:noFill/>
        </p:spPr>
        <p:txBody>
          <a:bodyPr wrap="square" rtlCol="0">
            <a:noAutofit/>
          </a:bodyPr>
          <a:p>
            <a:r>
              <a:rPr lang="en-US" sz="2000">
                <a:solidFill>
                  <a:schemeClr val="accent1">
                    <a:lumMod val="75000"/>
                  </a:schemeClr>
                </a:solidFill>
              </a:rPr>
              <a:t>The out come from our research is that the best model for this problem was ,</a:t>
            </a:r>
            <a:endParaRPr lang="en-US" sz="2000">
              <a:solidFill>
                <a:schemeClr val="accent1">
                  <a:lumMod val="75000"/>
                </a:schemeClr>
              </a:solidFill>
            </a:endParaRPr>
          </a:p>
          <a:p>
            <a:r>
              <a:rPr lang="en-US" sz="2000">
                <a:solidFill>
                  <a:schemeClr val="accent1">
                    <a:lumMod val="75000"/>
                  </a:schemeClr>
                </a:solidFill>
              </a:rPr>
              <a:t>the VGG -19 AS IT scored highest accuracy between all of them </a:t>
            </a:r>
            <a:endParaRPr lang="en-US" sz="2000">
              <a:solidFill>
                <a:schemeClr val="accent1">
                  <a:lumMod val="7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Words>
  <Application>WPS Presentation</Application>
  <PresentationFormat>On-screen Show (4:3)</PresentationFormat>
  <Paragraphs>45</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SimSun</vt:lpstr>
      <vt:lpstr>Wingdings</vt:lpstr>
      <vt:lpstr>Arial</vt:lpstr>
      <vt:lpstr>Calibri</vt:lpstr>
      <vt:lpstr>Microsoft YaHei</vt:lpstr>
      <vt:lpstr>Arial Unicode MS</vt:lpstr>
      <vt:lpstr>Office Theme</vt:lpstr>
      <vt:lpstr>Medical Image Classification Description</vt:lpstr>
      <vt:lpstr>Chest_X_ray</vt:lpstr>
      <vt:lpstr>Several augmentation techniques were applied, including rotation, shifting, zooming, brightness adjustments, and flipping, to increase dataset diversity and reduce overfitting. These transformations generated new variations of both NORMAL and PNEUMONIA images, which contributed to improving the model’s generalization ability. The displayed images represent examples of the augmented data. </vt:lpstr>
      <vt:lpstr>Chest_X_ray</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mohas</cp:lastModifiedBy>
  <cp:revision>5</cp:revision>
  <dcterms:created xsi:type="dcterms:W3CDTF">2013-01-27T09:14:00Z</dcterms:created>
  <dcterms:modified xsi:type="dcterms:W3CDTF">2025-11-30T11:11:20Z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8A21CD9DE4654357A8FF0A9C8A81DCF1_12</vt:lpwstr>
  </property>
  <property fmtid="{D5CDD505-2E9C-101B-9397-08002B2CF9AE}" pid="3" name="KSOProductBuildVer">
    <vt:lpwstr>1033-12.2.0.23155</vt:lpwstr>
  </property>
</Properties>
</file>